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1361" r:id="rId4"/>
    <p:sldId id="1362" r:id="rId5"/>
    <p:sldId id="1363" r:id="rId6"/>
    <p:sldId id="1364" r:id="rId7"/>
    <p:sldId id="1365" r:id="rId8"/>
    <p:sldId id="1366" r:id="rId9"/>
    <p:sldId id="1375" r:id="rId10"/>
    <p:sldId id="1372" r:id="rId11"/>
    <p:sldId id="1373" r:id="rId12"/>
    <p:sldId id="1374" r:id="rId13"/>
    <p:sldId id="1376" r:id="rId14"/>
    <p:sldId id="1377" r:id="rId15"/>
    <p:sldId id="1378" r:id="rId16"/>
    <p:sldId id="1379" r:id="rId17"/>
    <p:sldId id="1380" r:id="rId18"/>
    <p:sldId id="1381" r:id="rId19"/>
    <p:sldId id="1382" r:id="rId20"/>
    <p:sldId id="1383" r:id="rId21"/>
    <p:sldId id="1384" r:id="rId22"/>
    <p:sldId id="1385" r:id="rId23"/>
    <p:sldId id="1386" r:id="rId24"/>
    <p:sldId id="13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1F83C-9952-4438-B870-ABB7BB58F41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67565-442B-411D-9E29-6A9A33A8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15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855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00D3-F8BD-B168-F1BD-95F43B104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73567-3B24-662D-AFFD-C81BCAD01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E9012-0E8F-D70B-4E4F-6AC9477A6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5A267-EF9A-1780-17CD-A1536ED2D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844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A8A4-D9D5-114A-32E7-74FD5044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6877F-B95C-728E-5188-95C31C6D9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76A31-24E9-0266-5E24-8DFDF81D5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89595-08E7-2884-8FD7-9816290F71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4603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E426A-1DF9-D519-66C4-8D2F4D75C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10F88-DA25-3A97-1521-F1C6472C2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D3578-FF54-1B1F-0405-3CA41820E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7A1FC-586B-A35F-6093-BCDAC7B93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686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C99F8-E8C9-7AE3-3209-C97C13381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6973C-3CB2-55A5-5903-B33095C12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0D800-4883-DC38-E898-BAD6982F7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F1345-51F0-C3C8-6AFC-6C632F4AC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268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0C80-FB6F-5CBF-C4EE-F017DE1E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BF7A2-D5E6-AD13-8114-5E23C95C4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C963E-8B30-BAE8-80F3-ECA1B5E24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E3414-000C-BB57-323C-453846FAC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35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6AD0D-4DB7-4627-44D6-4183432C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76707-1638-C28E-19F4-AA511B710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A5D74-7EE2-D6F4-3640-1FCAABD3A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72A91-8B2D-DFDD-403F-98B27C891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661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35F39-61B4-67EA-30F0-C7C947777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73B6A-C09F-0125-76C4-091E3F2C5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560D5-CC58-7F04-1F55-A78218209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99643-7EB1-D6EA-ECD5-7F5EDAF46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803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BDF8-0FC6-F96F-F623-C5A8117E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28A6A-DCC8-D2DF-E428-8D00EE936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73912-465A-02CE-3809-7355EB3DA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15EE9-1A63-52AB-BBFE-CCF0B1BBFE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324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D54F-CB0C-303D-6ABB-78015C4BA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34621-1463-D9F7-74F9-605F46240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2901B-D05A-9E8F-BFDD-97F635DA1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1B76C-0C69-E74A-080A-4C9F5A935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830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CB5C-14FE-3595-5655-334B97B06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F177E-7844-F58D-539F-2C03EB259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3B7E0-8840-EEFB-9B00-8A0589472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135AE-AE83-6A27-2251-CA8F4D0C8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140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B695F-BFAA-CCD7-3C7E-3FDF3BAC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7740F-3FFE-C35C-C47A-39C762CAD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C7CDE-A9CE-9EA2-5BF0-07032F766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273BB-553C-2203-42DB-01AC6278B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4282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7800-52AD-08AE-57D0-0BBA9ECBF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EEB36-71EB-B180-7897-F1FE94985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76AF5-EE85-2748-699C-DF12D32B7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B9DD3-B079-60BB-CF42-241B2848A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9097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82DC-FD16-0EE0-BEF8-173E918D7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2CEDD-3B27-9B87-15CB-40BD3D01A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9B792-DFE7-7606-81A6-B703B9D46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168F0-8087-F048-019E-EA5DEA7AE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551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8D66A-F838-9907-6212-193B4FC3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E2FE0-54C0-C9DD-543C-B10A6595D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0D60E-C4A5-B0F4-F15E-9CDE32A7A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D2016-8603-02C7-97B8-2F03A8F8D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667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BE59-4764-95E2-18EA-7AF0B9803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32EE4-5FD9-C34F-CA9F-F75B2599F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BA357-E44B-8B01-D37D-F66CD727C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59959-EE74-6E23-DEB6-09F86D4C7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244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4EB8A-77C0-EB81-E923-FF04440F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4455F-A73D-2852-951D-10B46FDA0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68CE2-D6F4-88E3-B797-4A16C0D3A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6E4BE-1A26-807E-D8AF-1AA6FCEF4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D8393B-3A81-4AE8-AB75-5A1A73994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713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1B46-EFC3-2DEA-BCA3-24DB87CD9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2132D-04C7-4E98-1416-ECD60EAE8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E3F40-4F7F-A049-14E6-E69DCA9A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D9760-4C01-340F-6DD3-A807B116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6DA23-1563-725E-EC8B-606C0FFF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9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6B538-1EF0-0EA9-A9AD-2DB9DD3D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C550-03C8-9B6B-4E98-FB7C6AB4D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73249-4F7D-582A-F968-C345C468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33797-15EB-7887-BD26-CB9090BD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91571-0E99-5D40-BD08-F63E9731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18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716B-4070-D2DF-ECBF-9D55ACBF2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8F4D0-CCB3-0C71-021D-72571B307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F4685-63AF-543D-3ABB-2B4D208C9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FAD7F-B067-EEBB-B914-CD695B13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D51D3-27F8-FD0E-0E18-76FE8A293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3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DF5E-F366-B818-F876-A9852DA4E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BCED8-6BBD-4B22-D0E0-57E9051B8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D9004-C3D5-B34E-CE9F-476D78833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E8545-89F4-9E74-4987-AEDE1DAE5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C04B5-8590-BC38-D26E-634D31CF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80C0-59C4-77E6-0FC4-42615B3F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9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B252-1A5B-5289-D575-9172E9886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21C58-6DF6-C1CF-3233-DFE9A6FE8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902AB-5B99-AA34-EF79-80B7756D8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8924A0-E40E-D9A2-35E0-A577F6786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C4A8C-CBB9-486D-41C9-758E19CEA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E6399-DE34-8AE2-AAED-F34EBDA7E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CAF84C-6A11-F0BF-EDF1-3F0E399D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24C5C1-F639-E42B-7682-C2030C925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0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E015-F844-C052-75EE-9FC7B0D2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120311-FDCB-4D43-5B8E-458CDE9A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74EAE-55E3-A595-AEA8-C22DB870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F71EC-F7BF-ACF6-28E4-3E48F896B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44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073C7-31B2-CF1F-D6F9-51F21C98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AD032-C2CD-480C-42F4-FBA5FA87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96B88-07AF-E5D4-C63E-D65A5F23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2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E253C-409E-7378-1DEC-C8B0B940C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78962-C927-BC1A-1BA0-E4DFA831E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1D28C-5DF3-4624-7F23-C6AAB0EE2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DFB4D-BECD-0B8F-3A5E-FD695493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9F286-4BDC-BDE3-C899-2AF3AE73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B8C9B-1D8E-A2F9-9A60-E82155A5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8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507C-5144-C83F-7A0B-C1A64A53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75AA8-D7F5-12CD-79F3-2C85A85F7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B3D81-D27B-4E58-31C5-369744BBE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D7FF1-8428-6EE1-A017-A5E98BDA5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6A6A5-6679-11A9-3E22-9B89F619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6D0E5-D76B-C0F0-A68E-D91D7819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4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10E6-4BB1-9DEB-5E54-A820DCD44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31649-A958-C525-4667-6240C51F7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18E19-7272-BE9D-BCED-182A1A65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CD8E1-7E2E-304A-7C9D-4D5E7E406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FCBFF-BC01-4BDB-7E25-1C5F1157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3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C456C-0530-7D0A-FCBF-757D077A7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6217F-067B-FB95-76E5-0E989221B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4F504-D169-52A2-9E97-ADDB0ED6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29713-5DE8-FA7B-4377-B894A0DE1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D942E-8990-A0B6-C948-FC7B9D8C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01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BFEA-240A-4229-E240-444F93ED3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878D3-4BA1-FFD4-20C5-4DBD4D2FB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1C11B-DEBF-3439-FCA4-F04033B4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CC26C-1A7F-3E37-8B4C-95D86065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6ABDB-DD2D-09F0-C173-D5048F08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09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4144-59F6-89FE-542F-78E763BA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3F7E-E6FB-61FB-0FFB-1BB261812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C8EA4-AD78-C899-727A-1A92D7ADC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D01C6-5B24-386F-D677-D072D2DB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59DD6-A29B-5DBF-3A88-550A71AA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26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7E8F-C90D-CC1C-E345-AD7AD25B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AC63A-5A3C-1829-C784-6BC9A75A6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9D76-CE05-48F6-AD53-07D53C25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0049C-6738-E623-0220-BE59822A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EDB08-0A26-8B72-EA84-2D61E91A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93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6EF8-AA28-C4CC-7A2E-2C2CAD22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5EA7-DF9A-0A52-D9B1-335E0E9EB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BB754-40CC-BC42-BD98-ED373C921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05FBE-68EF-DC3D-8AE8-8D2F3AC3B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93C71-9518-A07B-F750-6F9D5277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7A91F-8F7E-1CE2-5E5D-3EBC5147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38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57BE-C409-015C-57A6-A036613AA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84799-2E91-7CF4-64DB-2C0C44CC7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C8B8-B905-DD58-6060-BCB911259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CE55C-98C9-5EA3-D711-1FC8788DF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F2E7EE-1267-D7BA-EEFA-10190E885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DD707-FD87-3C18-E88C-7DCAF364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0838B-8059-BD5F-6F25-9BE090CE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AB0F8-5B22-5114-1B03-558E1C02D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38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65BA-ADE5-6595-3608-D4516C6C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BBA433-9B4B-C690-15F4-C6BCA2E9B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A1BF6-74BB-60F2-4CAE-0B9D40C44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55CB2-7AA7-7115-FA54-8DAEDCDE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576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FC251-074D-1CFB-9254-EF6C1B44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D771A5-82B5-E660-AD8F-396D9420E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C11F6-0B48-BB3F-61E5-0FDD0121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29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1F1E-AA82-E61C-DFEE-179144F9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9FB8F-5044-182B-7DA3-0F9FE41A8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16798-EF4F-2A36-93AB-6DBDE49C7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59CFC-9080-7718-6C10-353A287D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9D8A5-1CD8-88E6-4068-4EAA478A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66A71-96C3-6C00-2E99-7C16A215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005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0E76-710B-FCC5-D7DD-B525A564A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47D4F-EAE1-B9A2-6BB6-167ADF7DE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77E2D-75A9-67E1-A4BC-9F7774440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62B4C-5A92-7FA4-2C04-809741CD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1C238-1641-B34C-4956-B9199D93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F123D-2426-BA01-595D-0656EAC9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80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141D-ACFE-3279-D5BF-19ABBE59C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BA94C-1B9D-587C-994F-0D4E0C065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61A5-8E50-29BE-CDA5-4720E859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AC250-F235-0533-0A51-292570B6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86841-BAAB-00FC-45BD-7BF7E376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768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30AC4-ABF1-1CBC-E866-6308FAA8F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501BD-D5A9-2065-C96A-FAC129B1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1137-5B32-FB5C-4193-35E81A99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0E4FF-506B-CA28-FFDE-DB655C8C5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FA8DA-E21C-EE79-C88D-CAE4DAEC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8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3E656-D28D-E8A0-1CB5-E1382A6F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6AE91-A8DC-2623-9F29-49DC52240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2EE0F-2E4D-1B8C-F045-459AEE2239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3D2EE-02EB-4F88-BD09-4FE6275560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A3F08-A41B-DD18-8F5B-ACCDCA47A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B7D34-063D-D2B3-EB5C-52E1E59B6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9A63C-03B8-494D-BBF6-DFA2EDDAB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6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D0C6E-4C8C-D2B3-7DB9-3E2A6F088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ECD23-C260-710D-74A0-187472C4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E83E-E353-55F1-B454-4BE6AAFBF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16BFE-3BFC-4F34-95A6-8E1209BAC2B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8CDBE-61E9-151A-C34C-1A380CB06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AE3FF-18F7-618A-0765-5A9271576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AD6C-AB4C-4786-85F7-9DE21BD6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6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72DA-B66B-92B2-747B-FF7C88E60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267" y="1122363"/>
            <a:ext cx="11463865" cy="1942570"/>
          </a:xfrm>
        </p:spPr>
        <p:txBody>
          <a:bodyPr anchor="ctr">
            <a:normAutofit/>
          </a:bodyPr>
          <a:lstStyle/>
          <a:p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Saaka. “Whose Votes Count?”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822D360-378A-8712-90B4-8FF2C6754ED1}"/>
              </a:ext>
            </a:extLst>
          </p:cNvPr>
          <p:cNvSpPr txBox="1">
            <a:spLocks/>
          </p:cNvSpPr>
          <p:nvPr/>
        </p:nvSpPr>
        <p:spPr>
          <a:xfrm>
            <a:off x="2212759" y="4283105"/>
            <a:ext cx="7766482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Gyu Sang Shim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School of Economic, Political and Policy Sciences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89438D-2A1C-A268-EBEF-D17F304B8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63" y="5339445"/>
            <a:ext cx="3738874" cy="419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BDD435-9810-1714-7D6A-EA840F3E9E49}"/>
              </a:ext>
            </a:extLst>
          </p:cNvPr>
          <p:cNvSpPr txBox="1"/>
          <p:nvPr/>
        </p:nvSpPr>
        <p:spPr>
          <a:xfrm>
            <a:off x="186267" y="181793"/>
            <a:ext cx="665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[Discussion]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49805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0" y="0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Summary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46030-F560-1393-B8C7-97B2963CC4A6}"/>
              </a:ext>
            </a:extLst>
          </p:cNvPr>
          <p:cNvSpPr txBox="1"/>
          <p:nvPr/>
        </p:nvSpPr>
        <p:spPr>
          <a:xfrm>
            <a:off x="73783" y="835919"/>
            <a:ext cx="11979632" cy="5815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Research Question</a:t>
            </a:r>
            <a:br>
              <a:rPr lang="en-US" sz="2000" dirty="0"/>
            </a:br>
            <a:r>
              <a:rPr lang="en-US" sz="2000" dirty="0"/>
              <a:t>(1) How are Community Benefit Agreements (CBAs) organized and practiced in mining communities in Ghana?</a:t>
            </a:r>
            <a:br>
              <a:rPr lang="en-US" sz="2000" dirty="0"/>
            </a:br>
            <a:r>
              <a:rPr lang="en-US" sz="2000" dirty="0"/>
              <a:t>(2) To what extent do marginalized groups (women, youth, and disabilities) participate / influence?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ko-KR" sz="5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Argument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</a:t>
            </a: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CBAs in Ghana’s mining sector tend to reproduce, rather than reduce, existing power inequalities. </a:t>
            </a:r>
            <a:b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</a:b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(2) Participation is largely elite-controlled and performative, with decision-making dominated by traditional authorities, local political actors, and company representatives.</a:t>
            </a:r>
            <a:b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</a:b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(3) As a result, marginalized groups are included symbolically but excluded substantively.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Methodology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Comparative qualitative case study of two mining projects in Ghana: AngloGold and Newmont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(2</a:t>
            </a: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) 61 semi-structured interviews, 4 gender-segregated focus group discussions (24 participants), and supplementary document and content analysis</a:t>
            </a:r>
            <a:endParaRPr kumimoji="0" lang="en-US" altLang="ko-KR" sz="20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121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03B1F-1628-1589-518B-294A87594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436B3F7-9943-F240-2333-817D302DB947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Conceptual Framing: What is a CBA for?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149ED-0133-BF62-C1A0-0BB1CBF7DCF3}"/>
              </a:ext>
            </a:extLst>
          </p:cNvPr>
          <p:cNvSpPr txBox="1"/>
          <p:nvPr/>
        </p:nvSpPr>
        <p:spPr>
          <a:xfrm>
            <a:off x="73783" y="835919"/>
            <a:ext cx="11979632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Saaka treats CBAs as instruments for intra-community empowerment</a:t>
            </a:r>
          </a:p>
          <a:p>
            <a:pPr marL="457196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“marginalized groups cannot participate </a:t>
            </a:r>
            <a:r>
              <a:rPr lang="en-US" sz="2000" dirty="0">
                <a:sym typeface="Wingdings" panose="05000000000000000000" pitchFamily="2" charset="2"/>
              </a:rPr>
              <a:t> problem”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“participation is tokenistic  problem”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“CBAs do not empower marginalized groups  problem”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But CBAs are designed to (1) secure social license to operate, and (2) manage firm–community relations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Level mismatch </a:t>
            </a:r>
            <a:r>
              <a:rPr lang="en-US" sz="2000" dirty="0">
                <a:sym typeface="Wingdings" panose="05000000000000000000" pitchFamily="2" charset="2"/>
              </a:rPr>
              <a:t>&amp; normative overreach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36731BF-D19F-C49E-920A-9DBEAC2F4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1400" y="4643255"/>
            <a:ext cx="242993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CBAs in real world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/>
              <a:t>Firm ↔ community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/>
              <a:t>State ↔ local actors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/>
              <a:t>Resource governance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4A1E3C0-23E2-EEBC-F3CB-88E6E87F5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484" y="4797143"/>
            <a:ext cx="425631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CBAs in the paper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Intra-community democracy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Representation of marginalized groups </a:t>
            </a:r>
          </a:p>
        </p:txBody>
      </p:sp>
    </p:spTree>
    <p:extLst>
      <p:ext uri="{BB962C8B-B14F-4D97-AF65-F5344CB8AC3E}">
        <p14:creationId xmlns:p14="http://schemas.microsoft.com/office/powerpoint/2010/main" val="112822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440F3-1903-700C-A9EB-4775916E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C94AB16-4535-EA55-1DE6-5278D7556837}"/>
              </a:ext>
            </a:extLst>
          </p:cNvPr>
          <p:cNvSpPr txBox="1">
            <a:spLocks/>
          </p:cNvSpPr>
          <p:nvPr/>
        </p:nvSpPr>
        <p:spPr>
          <a:xfrm>
            <a:off x="138585" y="0"/>
            <a:ext cx="11469215" cy="8359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Efficiency Claim</a:t>
            </a:r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2E47CB-B757-51A0-22E9-BFE4324739CB}"/>
              </a:ext>
            </a:extLst>
          </p:cNvPr>
          <p:cNvSpPr txBox="1"/>
          <p:nvPr/>
        </p:nvSpPr>
        <p:spPr>
          <a:xfrm>
            <a:off x="73783" y="835919"/>
            <a:ext cx="11979632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“Inclusion </a:t>
            </a: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  <a:sym typeface="Wingdings" panose="05000000000000000000" pitchFamily="2" charset="2"/>
              </a:rPr>
              <a:t> efficient CBAs”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  <a:sym typeface="Wingdings" panose="05000000000000000000" pitchFamily="2" charset="2"/>
              </a:rPr>
              <a:t>No definition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  <a:sym typeface="Wingdings" panose="05000000000000000000" pitchFamily="2" charset="2"/>
              </a:rPr>
              <a:t>No measurement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  <a:sym typeface="Wingdings" panose="05000000000000000000" pitchFamily="2" charset="2"/>
              </a:rPr>
              <a:t>What about coordination costs after including more actors?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  <a:sym typeface="Wingdings" panose="05000000000000000000" pitchFamily="2" charset="2"/>
              </a:rPr>
              <a:t>Did you want to say “good”?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126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B1E1-684B-9C98-E5E2-8FDFF505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7043D8E-D9EB-64E8-01CA-56D734BEE0CA}"/>
              </a:ext>
            </a:extLst>
          </p:cNvPr>
          <p:cNvSpPr txBox="1">
            <a:spLocks/>
          </p:cNvSpPr>
          <p:nvPr/>
        </p:nvSpPr>
        <p:spPr>
          <a:xfrm>
            <a:off x="138585" y="0"/>
            <a:ext cx="11469215" cy="8359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studies: AngloGold vs. </a:t>
            </a:r>
            <a:r>
              <a:rPr kumimoji="0" lang="en-US" altLang="ko-KR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NewMont</a:t>
            </a:r>
            <a:endParaRPr kumimoji="0" lang="en-US" altLang="ko-KR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364721-CE27-04DA-E6C1-4BAF5FD8089D}"/>
              </a:ext>
            </a:extLst>
          </p:cNvPr>
          <p:cNvSpPr txBox="1"/>
          <p:nvPr/>
        </p:nvSpPr>
        <p:spPr>
          <a:xfrm>
            <a:off x="73783" y="835919"/>
            <a:ext cx="11979632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No variation</a:t>
            </a: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, no test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What is b</a:t>
            </a:r>
            <a:r>
              <a:rPr lang="en-US" altLang="ko-KR" sz="2400" dirty="0" err="1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eing</a:t>
            </a: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 tested?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What do you compare?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Could you find some within-case variation across communities?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Is there any other firm which has inclusive CBAs in Ghana? If so, include them in your research.</a:t>
            </a:r>
          </a:p>
        </p:txBody>
      </p:sp>
    </p:spTree>
    <p:extLst>
      <p:ext uri="{BB962C8B-B14F-4D97-AF65-F5344CB8AC3E}">
        <p14:creationId xmlns:p14="http://schemas.microsoft.com/office/powerpoint/2010/main" val="358282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C9C4A-25F3-E24E-9A05-52A0DEE91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B90961-E766-7EDB-3C32-4B91BA1AF3E4}"/>
              </a:ext>
            </a:extLst>
          </p:cNvPr>
          <p:cNvSpPr txBox="1">
            <a:spLocks/>
          </p:cNvSpPr>
          <p:nvPr/>
        </p:nvSpPr>
        <p:spPr>
          <a:xfrm>
            <a:off x="138585" y="0"/>
            <a:ext cx="11469215" cy="8359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studies: AngloGold vs. </a:t>
            </a:r>
            <a:r>
              <a:rPr kumimoji="0" lang="en-US" altLang="ko-KR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NewMont</a:t>
            </a:r>
            <a:endParaRPr kumimoji="0" lang="en-US" altLang="ko-KR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054FEB-7E6B-E90A-DFA7-4E2F90162580}"/>
              </a:ext>
            </a:extLst>
          </p:cNvPr>
          <p:cNvSpPr txBox="1"/>
          <p:nvPr/>
        </p:nvSpPr>
        <p:spPr>
          <a:xfrm>
            <a:off x="73783" y="835919"/>
            <a:ext cx="11979632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No variation</a:t>
            </a: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, no test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What is b</a:t>
            </a:r>
            <a:r>
              <a:rPr lang="en-US" altLang="ko-KR" sz="2400" dirty="0" err="1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eing</a:t>
            </a: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 tested?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What do you compare?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Could you find some within-case variation across communities?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Is there any other firm which has inclusive CBAs in Ghana? If so, include them in your research.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40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Consistent patterns ≠ </a:t>
            </a: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causally identified</a:t>
            </a:r>
          </a:p>
        </p:txBody>
      </p:sp>
    </p:spTree>
    <p:extLst>
      <p:ext uri="{BB962C8B-B14F-4D97-AF65-F5344CB8AC3E}">
        <p14:creationId xmlns:p14="http://schemas.microsoft.com/office/powerpoint/2010/main" val="3304307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1E2CB-924D-3F56-342B-3A707AFB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DAA2-6AB8-AFA4-93C3-9995B4BEC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267" y="1122363"/>
            <a:ext cx="11463865" cy="1942570"/>
          </a:xfrm>
        </p:spPr>
        <p:txBody>
          <a:bodyPr anchor="ctr">
            <a:normAutofit fontScale="90000"/>
          </a:bodyPr>
          <a:lstStyle/>
          <a:p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Cha. “The Logic of Industrial Subsidies”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61E912D-A902-B296-AEB9-4331A7AD95B6}"/>
              </a:ext>
            </a:extLst>
          </p:cNvPr>
          <p:cNvSpPr txBox="1">
            <a:spLocks/>
          </p:cNvSpPr>
          <p:nvPr/>
        </p:nvSpPr>
        <p:spPr>
          <a:xfrm>
            <a:off x="2212759" y="4283105"/>
            <a:ext cx="7766482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Gyu Sang Shim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School of Economic, Political and Policy Sciences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2EC68-8470-D678-E544-F95DFA24C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63" y="5339445"/>
            <a:ext cx="3738874" cy="419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1613C9-8714-A78F-7C41-4CAEBEB0D4BF}"/>
              </a:ext>
            </a:extLst>
          </p:cNvPr>
          <p:cNvSpPr txBox="1"/>
          <p:nvPr/>
        </p:nvSpPr>
        <p:spPr>
          <a:xfrm>
            <a:off x="186267" y="181793"/>
            <a:ext cx="665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[Discussion]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2066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CA12B-494E-BE99-5828-955E9A7A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9E358A-60F2-141F-F3F8-5662E32DCF4B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Summary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97A75-1126-A1B5-845C-62E485BC243E}"/>
              </a:ext>
            </a:extLst>
          </p:cNvPr>
          <p:cNvSpPr txBox="1"/>
          <p:nvPr/>
        </p:nvSpPr>
        <p:spPr>
          <a:xfrm>
            <a:off x="73783" y="835919"/>
            <a:ext cx="11979632" cy="4430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Research Question</a:t>
            </a:r>
            <a:br>
              <a:rPr lang="en-US" sz="2000" dirty="0"/>
            </a:br>
            <a:r>
              <a:rPr lang="en-US" sz="2000" dirty="0"/>
              <a:t>(1) Why do some firms get more industrial subsidies than the others? 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ko-KR" sz="5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Argument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Foreign ownership</a:t>
            </a: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 </a:t>
            </a:r>
            <a:b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</a:b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(2) Labor intensity</a:t>
            </a:r>
            <a:b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</a:b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(3) Reliance on foreign supply chains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Methodology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Firm-year level data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(2</a:t>
            </a: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) Interaction models</a:t>
            </a:r>
            <a:endParaRPr kumimoji="0" lang="en-US" altLang="ko-KR" sz="20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70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7B932-2BAB-BB04-19D4-C27CCACF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439451C-3B7C-731F-3466-FE3929847B15}"/>
              </a:ext>
            </a:extLst>
          </p:cNvPr>
          <p:cNvSpPr txBox="1">
            <a:spLocks/>
          </p:cNvSpPr>
          <p:nvPr/>
        </p:nvSpPr>
        <p:spPr>
          <a:xfrm>
            <a:off x="1524000" y="228601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Selection vs. Allocation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82BF2-2BA0-753F-61C9-8AFB72A0E7C8}"/>
              </a:ext>
            </a:extLst>
          </p:cNvPr>
          <p:cNvSpPr txBox="1"/>
          <p:nvPr/>
        </p:nvSpPr>
        <p:spPr>
          <a:xfrm>
            <a:off x="73783" y="1064520"/>
            <a:ext cx="11979632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Are the results driven by subsidy allocation (gov) or selection into application (firm)?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Are foreign firms applying less? 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Are they less likely to enter subsidy competitions? 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Are they in different sectors or locations?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How would you address the selection stories?</a:t>
            </a:r>
          </a:p>
        </p:txBody>
      </p:sp>
    </p:spTree>
    <p:extLst>
      <p:ext uri="{BB962C8B-B14F-4D97-AF65-F5344CB8AC3E}">
        <p14:creationId xmlns:p14="http://schemas.microsoft.com/office/powerpoint/2010/main" val="1610155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41426-EA14-C586-BD80-11752E12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0BBBB2A-803B-23D6-CDAA-47F63546FA84}"/>
              </a:ext>
            </a:extLst>
          </p:cNvPr>
          <p:cNvSpPr txBox="1">
            <a:spLocks/>
          </p:cNvSpPr>
          <p:nvPr/>
        </p:nvSpPr>
        <p:spPr>
          <a:xfrm>
            <a:off x="1524000" y="228601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Penalty vs. Allocation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2AF89-5E8E-00DA-CF09-81F9BD26A5F2}"/>
              </a:ext>
            </a:extLst>
          </p:cNvPr>
          <p:cNvSpPr txBox="1"/>
          <p:nvPr/>
        </p:nvSpPr>
        <p:spPr>
          <a:xfrm>
            <a:off x="73783" y="1064520"/>
            <a:ext cx="11979632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Paper interprets results as a foreignness penalty 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But empirically, we observe differences in subsidy allocation, not punishment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Are foreign firms being penalized (discrimination or negative treatment), </a:t>
            </a:r>
            <a:br>
              <a:rPr lang="en-US" sz="2000" dirty="0"/>
            </a:br>
            <a:r>
              <a:rPr lang="en-US" sz="2000" dirty="0"/>
              <a:t>or are domestic firms simply being prioritized (targeted support toward politically valuable firms)?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Reframe from “foreignness penalty” to “conditional allocation based on domestic political returns”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1103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24DC1-33AF-C2A8-16F7-E5E8276A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45D5A9-172B-8FF9-0494-92FE4C724220}"/>
              </a:ext>
            </a:extLst>
          </p:cNvPr>
          <p:cNvSpPr txBox="1">
            <a:spLocks/>
          </p:cNvSpPr>
          <p:nvPr/>
        </p:nvSpPr>
        <p:spPr>
          <a:xfrm>
            <a:off x="1524000" y="228601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Some Omitted Variables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AA9B4-516B-3EDA-61E4-57CFF2EC9BB7}"/>
              </a:ext>
            </a:extLst>
          </p:cNvPr>
          <p:cNvSpPr txBox="1"/>
          <p:nvPr/>
        </p:nvSpPr>
        <p:spPr>
          <a:xfrm>
            <a:off x="73783" y="1064520"/>
            <a:ext cx="11979632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Political ties: lobbying, PACs contribution, local political ties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Political economic importance: local and federal GDP/job/export contribution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Details about supply chains: origin of imported goods, export target, diplomatic relationship with them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Sources of liability of foreignness: diplomacy, alliance, economic partnership, global sports/cultural events, governing elites’ perception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Motivation of FDI: do they come to the US to sell in the US, produce in the US, to avoid tariffs, to get subsidy, or to get political benefits from home/US?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Reverse causation?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Labor intensity vs. job creation?</a:t>
            </a:r>
          </a:p>
        </p:txBody>
      </p:sp>
    </p:spTree>
    <p:extLst>
      <p:ext uri="{BB962C8B-B14F-4D97-AF65-F5344CB8AC3E}">
        <p14:creationId xmlns:p14="http://schemas.microsoft.com/office/powerpoint/2010/main" val="2121476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37BB-3190-787C-E84C-FBBFAC35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71B7A-F628-BD28-A328-A99B0C356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267" y="1122363"/>
            <a:ext cx="11463865" cy="1942570"/>
          </a:xfrm>
        </p:spPr>
        <p:txBody>
          <a:bodyPr anchor="ctr">
            <a:noAutofit/>
          </a:bodyPr>
          <a:lstStyle/>
          <a:p>
            <a:b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Kim&amp;Kim</a:t>
            </a: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“Firm Lobbying in Tariff Exclusions”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62E1246-DC5B-A155-F458-B01B6D0793BA}"/>
              </a:ext>
            </a:extLst>
          </p:cNvPr>
          <p:cNvSpPr txBox="1">
            <a:spLocks/>
          </p:cNvSpPr>
          <p:nvPr/>
        </p:nvSpPr>
        <p:spPr>
          <a:xfrm>
            <a:off x="2212759" y="4283105"/>
            <a:ext cx="7766482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Gyu Sang Shim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School of Economic, Political and Policy Sciences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77BF53-84AA-5B4C-1A29-72CC94A0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63" y="5339445"/>
            <a:ext cx="3738874" cy="419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09E9F3-7184-2889-6072-22BDCC3AE329}"/>
              </a:ext>
            </a:extLst>
          </p:cNvPr>
          <p:cNvSpPr txBox="1"/>
          <p:nvPr/>
        </p:nvSpPr>
        <p:spPr>
          <a:xfrm>
            <a:off x="186267" y="181793"/>
            <a:ext cx="665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[Discussion]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49620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2650-7107-5B7B-D881-C9DBE5FE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3BECF7B-7BB9-11AA-A992-EC0A5C668564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Summary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16995-6318-37C8-A86A-0C2876B80748}"/>
              </a:ext>
            </a:extLst>
          </p:cNvPr>
          <p:cNvSpPr txBox="1"/>
          <p:nvPr/>
        </p:nvSpPr>
        <p:spPr>
          <a:xfrm>
            <a:off x="73783" y="835919"/>
            <a:ext cx="11979632" cy="396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Research Question</a:t>
            </a:r>
            <a:br>
              <a:rPr lang="en-US" sz="2000" dirty="0"/>
            </a:br>
            <a:r>
              <a:rPr lang="en-US" sz="2000" dirty="0"/>
              <a:t>(1) Under what conditions are bureaucrats more receptive to information provided by firms? 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ko-KR" sz="5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Argument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Lobbying</a:t>
            </a:r>
            <a:b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</a:b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(2) Bureaucratic turnover (average length of tenure within an agency) </a:t>
            </a: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  <a:sym typeface="Wingdings" panose="05000000000000000000" pitchFamily="2" charset="2"/>
              </a:rPr>
              <a:t> dependence on external information</a:t>
            </a:r>
            <a:endParaRPr kumimoji="0" lang="en-US" altLang="ko-KR" sz="20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Methodology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Firm-request level data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(2</a:t>
            </a: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) Interaction models (lobbying * average LOS)</a:t>
            </a:r>
            <a:endParaRPr kumimoji="0" lang="en-US" altLang="ko-KR" sz="20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577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BA1F3-3315-E5E7-B883-B24E3F232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6004A00-B3F0-8412-5A9B-FB3207758725}"/>
              </a:ext>
            </a:extLst>
          </p:cNvPr>
          <p:cNvSpPr txBox="1">
            <a:spLocks/>
          </p:cNvSpPr>
          <p:nvPr/>
        </p:nvSpPr>
        <p:spPr>
          <a:xfrm>
            <a:off x="1524000" y="228601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Average Length of Service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98AC90-2D44-2E43-70FE-E0EEB8A736F1}"/>
              </a:ext>
            </a:extLst>
          </p:cNvPr>
          <p:cNvSpPr txBox="1"/>
          <p:nvPr/>
        </p:nvSpPr>
        <p:spPr>
          <a:xfrm>
            <a:off x="73783" y="1064520"/>
            <a:ext cx="11979632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Expertise vs. politically contentious periods?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Information vs. The squeaky wheel gets the grease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Experiences in the agency vs. experiences in business/academic/any relevant sectors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Variation?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E18D4-FA9A-62E2-2AB4-3397793B47F3}"/>
              </a:ext>
            </a:extLst>
          </p:cNvPr>
          <p:cNvSpPr txBox="1">
            <a:spLocks/>
          </p:cNvSpPr>
          <p:nvPr/>
        </p:nvSpPr>
        <p:spPr>
          <a:xfrm>
            <a:off x="1524000" y="3048001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Whose lobbying?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21B87-E31F-C154-D618-203E59F1EBB0}"/>
              </a:ext>
            </a:extLst>
          </p:cNvPr>
          <p:cNvSpPr txBox="1"/>
          <p:nvPr/>
        </p:nvSpPr>
        <p:spPr>
          <a:xfrm>
            <a:off x="73783" y="3883920"/>
            <a:ext cx="11979632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Larger and better organized </a:t>
            </a:r>
            <a:r>
              <a:rPr lang="en-US" sz="2000" dirty="0">
                <a:sym typeface="Wingdings" panose="05000000000000000000" pitchFamily="2" charset="2"/>
              </a:rPr>
              <a:t> Firm size covariates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B</a:t>
            </a:r>
            <a:r>
              <a:rPr lang="en-US" sz="2000" dirty="0"/>
              <a:t>etter cases?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Counter lobbying?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Producers including bigger conglomerates?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Timing of lobbying decision vs. filing timing (anticipatory or reactive?)</a:t>
            </a:r>
          </a:p>
        </p:txBody>
      </p:sp>
    </p:spTree>
    <p:extLst>
      <p:ext uri="{BB962C8B-B14F-4D97-AF65-F5344CB8AC3E}">
        <p14:creationId xmlns:p14="http://schemas.microsoft.com/office/powerpoint/2010/main" val="3100490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86A8-BA77-5730-C450-2AFB2DE00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9213-BCF7-989D-B360-0B13BD27E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267" y="1122363"/>
            <a:ext cx="11463865" cy="1942570"/>
          </a:xfrm>
        </p:spPr>
        <p:txBody>
          <a:bodyPr anchor="ctr">
            <a:noAutofit/>
          </a:bodyPr>
          <a:lstStyle/>
          <a:p>
            <a:b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Dao. “FDI and Local Governance”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FF473AE-71BD-FFBD-0B53-A7727817C6BF}"/>
              </a:ext>
            </a:extLst>
          </p:cNvPr>
          <p:cNvSpPr txBox="1">
            <a:spLocks/>
          </p:cNvSpPr>
          <p:nvPr/>
        </p:nvSpPr>
        <p:spPr>
          <a:xfrm>
            <a:off x="2212759" y="4283105"/>
            <a:ext cx="7766482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Gyu Sang Shim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School of Economic, Political and Policy Sciences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5D134-8906-93DF-B240-06F3AA893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63" y="5339445"/>
            <a:ext cx="3738874" cy="419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D0C047-D484-BB47-C82D-BD942B1D608D}"/>
              </a:ext>
            </a:extLst>
          </p:cNvPr>
          <p:cNvSpPr txBox="1"/>
          <p:nvPr/>
        </p:nvSpPr>
        <p:spPr>
          <a:xfrm>
            <a:off x="186267" y="181793"/>
            <a:ext cx="665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[Discussion]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78732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2EA9-9D9B-4F63-3311-45AB0001A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8415AF8-9A62-F1B6-F84B-4AB96EF16CE3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Summary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41A54-0005-F7BA-EBEC-D8B7AF0172C9}"/>
              </a:ext>
            </a:extLst>
          </p:cNvPr>
          <p:cNvSpPr txBox="1"/>
          <p:nvPr/>
        </p:nvSpPr>
        <p:spPr>
          <a:xfrm>
            <a:off x="73783" y="835919"/>
            <a:ext cx="11979632" cy="4430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Research Question</a:t>
            </a:r>
            <a:br>
              <a:rPr lang="en-US" sz="2000" dirty="0"/>
            </a:br>
            <a:r>
              <a:rPr lang="en-US" sz="2000" dirty="0"/>
              <a:t>(1) Do FDI improve local governance? 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ko-KR" sz="5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Argument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FDI brings tax revenue, employment, export, credible threat to relocate</a:t>
            </a:r>
            <a:b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</a:b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(2) </a:t>
            </a: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Adaptive admin pressure, responsiveness to firms, capacity of experimental policy implementation</a:t>
            </a:r>
            <a:endParaRPr kumimoji="0" lang="en-US" altLang="ko-KR" sz="20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Methodology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DID with 2018 tariff war shock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(2</a:t>
            </a: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) Province-year level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(3) Provincial Competitive Index</a:t>
            </a:r>
            <a:endParaRPr lang="en-US" altLang="ko-KR" sz="2000" dirty="0">
              <a:solidFill>
                <a:srgbClr val="333333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4404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8F5B3-20FA-2AB2-1F79-6E16D6B0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CDC8D45-36C5-7B7C-C931-C1AB4E470721}"/>
              </a:ext>
            </a:extLst>
          </p:cNvPr>
          <p:cNvSpPr txBox="1">
            <a:spLocks/>
          </p:cNvSpPr>
          <p:nvPr/>
        </p:nvSpPr>
        <p:spPr>
          <a:xfrm>
            <a:off x="1524000" y="228601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Literature Review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1624-EE3C-1C15-8E92-C1E1F93824C7}"/>
              </a:ext>
            </a:extLst>
          </p:cNvPr>
          <p:cNvSpPr txBox="1"/>
          <p:nvPr/>
        </p:nvSpPr>
        <p:spPr>
          <a:xfrm>
            <a:off x="73783" y="1064520"/>
            <a:ext cx="11979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Connect more tightly (OLI, Pandya’s Lit. Rev. etc. do not directly discuss your question)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Add more literature on adaptive governance, corporate political influence, interaction at the local level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Move trade war exposure to identification strategy section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0DC8F-B85D-2D7D-3782-CFD3C62228D7}"/>
              </a:ext>
            </a:extLst>
          </p:cNvPr>
          <p:cNvSpPr txBox="1">
            <a:spLocks/>
          </p:cNvSpPr>
          <p:nvPr/>
        </p:nvSpPr>
        <p:spPr>
          <a:xfrm>
            <a:off x="1524000" y="2523068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Theory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0B48E-8715-CDB1-DAE5-85ECD30E5801}"/>
              </a:ext>
            </a:extLst>
          </p:cNvPr>
          <p:cNvSpPr txBox="1"/>
          <p:nvPr/>
        </p:nvSpPr>
        <p:spPr>
          <a:xfrm>
            <a:off x="73783" y="3358987"/>
            <a:ext cx="11979632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Adaptive governance after FDI vs. obsolescing bargaining?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Spatial spillover through competition vs. imitation vs. trickle effects?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096795-B713-4019-20EA-DFD61E8023AC}"/>
              </a:ext>
            </a:extLst>
          </p:cNvPr>
          <p:cNvSpPr txBox="1">
            <a:spLocks/>
          </p:cNvSpPr>
          <p:nvPr/>
        </p:nvSpPr>
        <p:spPr>
          <a:xfrm>
            <a:off x="1532469" y="4394204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Empirics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119C5-2788-0D02-5B27-B3444F169536}"/>
              </a:ext>
            </a:extLst>
          </p:cNvPr>
          <p:cNvSpPr txBox="1"/>
          <p:nvPr/>
        </p:nvSpPr>
        <p:spPr>
          <a:xfrm>
            <a:off x="82252" y="5230123"/>
            <a:ext cx="11979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First stage results? Constant terms?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OLS, (2) OLS with FE, (3) OLS with control and FE, (4) IV, (5) IV with FE, (6) IV with control and FE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Section for identification strategy (weak IV, exclusion restriction</a:t>
            </a:r>
            <a:r>
              <a:rPr lang="en-US" altLang="ko-KR" sz="200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, etc.)</a:t>
            </a: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290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2556-C99E-9606-78AE-10934009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F9B2-2D73-EE43-6939-A138D3721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267" y="1122363"/>
            <a:ext cx="11463865" cy="1942570"/>
          </a:xfrm>
        </p:spPr>
        <p:txBody>
          <a:bodyPr anchor="ctr">
            <a:noAutofit/>
          </a:bodyPr>
          <a:lstStyle/>
          <a:p>
            <a:b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Ginis. “Production Complexity and Enforcement”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D4C6051-E7B9-C1A7-D7E0-4880B0DA4A27}"/>
              </a:ext>
            </a:extLst>
          </p:cNvPr>
          <p:cNvSpPr txBox="1">
            <a:spLocks/>
          </p:cNvSpPr>
          <p:nvPr/>
        </p:nvSpPr>
        <p:spPr>
          <a:xfrm>
            <a:off x="2212759" y="4283105"/>
            <a:ext cx="7766482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Gyu Sang Shim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School of Economic, Political and Policy Sciences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57A735-1C34-E89F-A36A-B9CE6CAE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63" y="5339445"/>
            <a:ext cx="3738874" cy="419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01CBB1-D5EF-B9B6-C963-326E2E12154C}"/>
              </a:ext>
            </a:extLst>
          </p:cNvPr>
          <p:cNvSpPr txBox="1"/>
          <p:nvPr/>
        </p:nvSpPr>
        <p:spPr>
          <a:xfrm>
            <a:off x="186267" y="181793"/>
            <a:ext cx="665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[Discussion]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12463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2D28D-50DF-CB77-4228-2E72332F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370331-F45A-8A07-CE92-D1D8BCE718A6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Summary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07230-8A62-9498-65B2-E34E5B651607}"/>
              </a:ext>
            </a:extLst>
          </p:cNvPr>
          <p:cNvSpPr txBox="1"/>
          <p:nvPr/>
        </p:nvSpPr>
        <p:spPr>
          <a:xfrm>
            <a:off x="73783" y="835919"/>
            <a:ext cx="11979632" cy="4430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Research Question</a:t>
            </a:r>
            <a:br>
              <a:rPr lang="en-US" sz="2000" dirty="0"/>
            </a:br>
            <a:r>
              <a:rPr lang="en-US" sz="2000" dirty="0"/>
              <a:t>(1) How firm-level production complexity shapes the state’s ability to regulate and tax firms.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ko-KR" sz="5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Argument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</a:t>
            </a:r>
            <a:r>
              <a:rPr lang="en-US" sz="2000" dirty="0"/>
              <a:t>Production complexity protects firms from regulation and taxation when bureaucratic technical capacity is low.</a:t>
            </a:r>
            <a:br>
              <a:rPr lang="en-US" sz="2000" dirty="0"/>
            </a:br>
            <a:r>
              <a:rPr kumimoji="0" lang="en-US" altLang="ko-KR" sz="20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(2) </a:t>
            </a: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Vietnam vs. China</a:t>
            </a:r>
            <a:endParaRPr kumimoji="0" lang="en-US" altLang="ko-KR" sz="20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Methodology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Subset analysis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(2</a:t>
            </a:r>
            <a:r>
              <a:rPr lang="en-US" altLang="ko-KR" sz="2000" dirty="0">
                <a:solidFill>
                  <a:srgbClr val="333333"/>
                </a:solidFill>
                <a:ea typeface="微软雅黑" panose="020B0503020204020204" pitchFamily="34" charset="-122"/>
              </a:rPr>
              <a:t>) firm-year level</a:t>
            </a:r>
          </a:p>
        </p:txBody>
      </p:sp>
    </p:spTree>
    <p:extLst>
      <p:ext uri="{BB962C8B-B14F-4D97-AF65-F5344CB8AC3E}">
        <p14:creationId xmlns:p14="http://schemas.microsoft.com/office/powerpoint/2010/main" val="2939171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16DE-FF03-9E46-0CEA-8B282FDA3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282BD4-A125-152F-E9B3-EBDCA06C867C}"/>
              </a:ext>
            </a:extLst>
          </p:cNvPr>
          <p:cNvSpPr txBox="1">
            <a:spLocks/>
          </p:cNvSpPr>
          <p:nvPr/>
        </p:nvSpPr>
        <p:spPr>
          <a:xfrm>
            <a:off x="1524000" y="228601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black"/>
                </a:solidFill>
                <a:latin typeface="Calibri Light" panose="020F0302020204030204"/>
                <a:ea typeface="맑은 고딕" panose="020B0503020000020004" pitchFamily="50" charset="-127"/>
              </a:rPr>
              <a:t>Production complexity vs. Technology Gap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97300-313F-324B-3863-1BCFD1E37C64}"/>
              </a:ext>
            </a:extLst>
          </p:cNvPr>
          <p:cNvSpPr txBox="1"/>
          <p:nvPr/>
        </p:nvSpPr>
        <p:spPr>
          <a:xfrm>
            <a:off x="73783" y="1064520"/>
            <a:ext cx="11979632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Production complexity = product complexity + firm organization + capabilities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CF235-BF28-39D4-CF8B-796B2BE3C059}"/>
              </a:ext>
            </a:extLst>
          </p:cNvPr>
          <p:cNvSpPr txBox="1">
            <a:spLocks/>
          </p:cNvSpPr>
          <p:nvPr/>
        </p:nvSpPr>
        <p:spPr>
          <a:xfrm>
            <a:off x="1524000" y="1735667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Theory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EE519-5DFD-1C91-8930-1A06270A565C}"/>
              </a:ext>
            </a:extLst>
          </p:cNvPr>
          <p:cNvSpPr txBox="1"/>
          <p:nvPr/>
        </p:nvSpPr>
        <p:spPr>
          <a:xfrm>
            <a:off x="73783" y="2571586"/>
            <a:ext cx="11979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Willingness to regulate vs. Capabilities to regulate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Deregulation (or lax regulation as policy promotion) 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  <a:sym typeface="Wingdings" panose="05000000000000000000" pitchFamily="2" charset="2"/>
              </a:rPr>
              <a:t> Firms with high complexity could enter? (reverse causation)</a:t>
            </a: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010E0B-15B4-868B-3267-8A544ED4DFF9}"/>
              </a:ext>
            </a:extLst>
          </p:cNvPr>
          <p:cNvSpPr txBox="1">
            <a:spLocks/>
          </p:cNvSpPr>
          <p:nvPr/>
        </p:nvSpPr>
        <p:spPr>
          <a:xfrm>
            <a:off x="1532469" y="4080936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Empirics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773D3-30C9-78E0-B040-3B6F5D232AEA}"/>
              </a:ext>
            </a:extLst>
          </p:cNvPr>
          <p:cNvSpPr txBox="1"/>
          <p:nvPr/>
        </p:nvSpPr>
        <p:spPr>
          <a:xfrm>
            <a:off x="82252" y="4916855"/>
            <a:ext cx="11979632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Vietnam vs. China: technology gap + institutions + governance + enforcement capacity + others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Why not China dummy (or Vietnam dummy) and interaction with PCI?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Inspection as an outcome (enforcement or compliance?)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Perception score can be biased</a:t>
            </a:r>
          </a:p>
        </p:txBody>
      </p:sp>
    </p:spTree>
    <p:extLst>
      <p:ext uri="{BB962C8B-B14F-4D97-AF65-F5344CB8AC3E}">
        <p14:creationId xmlns:p14="http://schemas.microsoft.com/office/powerpoint/2010/main" val="537454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AFC0-F851-B69F-D5BA-E395F42C3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5D1E-F70D-5643-FE97-5ED0C83D6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267" y="1122363"/>
            <a:ext cx="11463865" cy="1942570"/>
          </a:xfrm>
        </p:spPr>
        <p:txBody>
          <a:bodyPr anchor="ctr">
            <a:noAutofit/>
          </a:bodyPr>
          <a:lstStyle/>
          <a:p>
            <a:b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He. “Supply Chain Linkage and Export Control”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A57283C-7D8A-3B71-5C80-2F41E17D8FD9}"/>
              </a:ext>
            </a:extLst>
          </p:cNvPr>
          <p:cNvSpPr txBox="1">
            <a:spLocks/>
          </p:cNvSpPr>
          <p:nvPr/>
        </p:nvSpPr>
        <p:spPr>
          <a:xfrm>
            <a:off x="2212759" y="4283105"/>
            <a:ext cx="7766482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Gyu Sang Shim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School of Economic, Political and Policy Sciences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FF0F4B-1E7E-283A-F934-EBA02C3E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63" y="5339445"/>
            <a:ext cx="3738874" cy="4196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DA456E-05E2-E283-941A-588562E8513E}"/>
              </a:ext>
            </a:extLst>
          </p:cNvPr>
          <p:cNvSpPr txBox="1"/>
          <p:nvPr/>
        </p:nvSpPr>
        <p:spPr>
          <a:xfrm>
            <a:off x="186267" y="181793"/>
            <a:ext cx="665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[Discussion]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57859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DE81-EB6F-08BF-D4A8-0703B50C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4B8F597-0C05-DFE5-8FD6-201C3207141C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Summary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0FE6B5-F7C0-DC9B-9E3D-AA0779329B05}"/>
              </a:ext>
            </a:extLst>
          </p:cNvPr>
          <p:cNvSpPr txBox="1"/>
          <p:nvPr/>
        </p:nvSpPr>
        <p:spPr>
          <a:xfrm>
            <a:off x="73783" y="835919"/>
            <a:ext cx="11979632" cy="5238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Research Question</a:t>
            </a:r>
            <a:br>
              <a:rPr lang="en-US" sz="2000" dirty="0"/>
            </a:br>
            <a:r>
              <a:rPr lang="en-US" sz="2000" dirty="0"/>
              <a:t>(1) Why do allied countries and firms comply with export controls for some products but not others?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ko-KR" sz="50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Argument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sz="2000" dirty="0"/>
              <a:t>(1) Punitive capacity (imposing state) increases compliance</a:t>
            </a:r>
            <a:br>
              <a:rPr lang="en-US" sz="2000" dirty="0"/>
            </a:br>
            <a:r>
              <a:rPr lang="en-US" sz="2000" dirty="0"/>
              <a:t>(2) Firm-level chokepoint strength increases resistance</a:t>
            </a:r>
            <a:endParaRPr lang="en-US" altLang="ko-KR" sz="5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Methodology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(1) Pr</a:t>
            </a:r>
            <a:r>
              <a:rPr lang="en-US" sz="2000" dirty="0"/>
              <a:t>ocess tracing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333333"/>
              </a:solidFill>
              <a:ea typeface="微软雅黑" panose="020B0503020204020204" pitchFamily="34" charset="-122"/>
            </a:endParaRP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Highly informative, but firms seem selected on the outcome, making it difficult to assess the generalizability of the framework.</a:t>
            </a:r>
            <a:endParaRPr lang="en-US" altLang="ko-KR" sz="2000" dirty="0">
              <a:solidFill>
                <a:srgbClr val="333333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991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E8405-F01D-B13E-26C9-4A5068F2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1A26549-8D44-D64B-762C-6894E508F46D}"/>
              </a:ext>
            </a:extLst>
          </p:cNvPr>
          <p:cNvSpPr txBox="1">
            <a:spLocks/>
          </p:cNvSpPr>
          <p:nvPr/>
        </p:nvSpPr>
        <p:spPr>
          <a:xfrm>
            <a:off x="1524000" y="228601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black"/>
                </a:solidFill>
                <a:latin typeface="Calibri Light" panose="020F0302020204030204"/>
                <a:ea typeface="맑은 고딕" panose="020B0503020000020004" pitchFamily="50" charset="-127"/>
              </a:rPr>
              <a:t>Theoretical Contribution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208D4-0B56-0336-8E8F-CDB0BB55E6F6}"/>
              </a:ext>
            </a:extLst>
          </p:cNvPr>
          <p:cNvSpPr txBox="1"/>
          <p:nvPr/>
        </p:nvSpPr>
        <p:spPr>
          <a:xfrm>
            <a:off x="73783" y="1064520"/>
            <a:ext cx="11979632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Straightforward extension of weaponized interdependence and firm-lv market power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195C3-2051-2739-A159-B03387E58C04}"/>
              </a:ext>
            </a:extLst>
          </p:cNvPr>
          <p:cNvSpPr txBox="1">
            <a:spLocks/>
          </p:cNvSpPr>
          <p:nvPr/>
        </p:nvSpPr>
        <p:spPr>
          <a:xfrm>
            <a:off x="1524000" y="1735667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Chokepoint Strength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B9A39-21BD-006C-6537-8EAEC5F43ED7}"/>
              </a:ext>
            </a:extLst>
          </p:cNvPr>
          <p:cNvSpPr txBox="1"/>
          <p:nvPr/>
        </p:nvSpPr>
        <p:spPr>
          <a:xfrm>
            <a:off x="73783" y="2571586"/>
            <a:ext cx="11979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Chokepoint strength = export profits + market share logic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This is not always consistent with network centrality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5A3E25-CE5A-2CBC-EBF0-B49A8E34415E}"/>
              </a:ext>
            </a:extLst>
          </p:cNvPr>
          <p:cNvSpPr txBox="1">
            <a:spLocks/>
          </p:cNvSpPr>
          <p:nvPr/>
        </p:nvSpPr>
        <p:spPr>
          <a:xfrm>
            <a:off x="1532469" y="4080936"/>
            <a:ext cx="9144000" cy="72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Whose compliance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0827A-E73A-8A86-B63E-294A2C906E6F}"/>
              </a:ext>
            </a:extLst>
          </p:cNvPr>
          <p:cNvSpPr txBox="1"/>
          <p:nvPr/>
        </p:nvSpPr>
        <p:spPr>
          <a:xfrm>
            <a:off x="82252" y="4916855"/>
            <a:ext cx="1197963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State or Firm? (ASML or Dutch Government?)</a:t>
            </a:r>
          </a:p>
          <a:p>
            <a:pPr marL="457196" lvl="0" indent="-45719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  <a:t>Selection bias (all high-profile chokepoint firms)</a:t>
            </a:r>
            <a:br>
              <a:rPr lang="en-US" altLang="ko-KR" sz="2000" dirty="0">
                <a:solidFill>
                  <a:srgbClr val="333333"/>
                </a:solidFill>
                <a:latin typeface="Calibri" panose="020F0502020204030204"/>
                <a:ea typeface="微软雅黑" panose="020B0503020204020204" pitchFamily="34" charset="-122"/>
              </a:rPr>
            </a:br>
            <a:endParaRPr lang="en-US" altLang="ko-KR" sz="2000" dirty="0">
              <a:solidFill>
                <a:srgbClr val="333333"/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877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1458</Words>
  <Application>Microsoft Office PowerPoint</Application>
  <PresentationFormat>Widescreen</PresentationFormat>
  <Paragraphs>182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微软雅黑</vt:lpstr>
      <vt:lpstr>Aptos</vt:lpstr>
      <vt:lpstr>Aptos Display</vt:lpstr>
      <vt:lpstr>Arial</vt:lpstr>
      <vt:lpstr>Calibri</vt:lpstr>
      <vt:lpstr>Calibri Light</vt:lpstr>
      <vt:lpstr>Wingdings</vt:lpstr>
      <vt:lpstr>Office Theme</vt:lpstr>
      <vt:lpstr>1_Office Theme</vt:lpstr>
      <vt:lpstr> Saaka. “Whose Votes Count?”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Cha. “The Logic of Industrial Subsidies”</vt:lpstr>
      <vt:lpstr>PowerPoint Presentation</vt:lpstr>
      <vt:lpstr>PowerPoint Presentation</vt:lpstr>
      <vt:lpstr>PowerPoint Presentation</vt:lpstr>
      <vt:lpstr>PowerPoint Presentation</vt:lpstr>
      <vt:lpstr> Kim&amp;Kim. “Firm Lobbying in Tariff Exclusions”</vt:lpstr>
      <vt:lpstr>PowerPoint Presentation</vt:lpstr>
      <vt:lpstr>PowerPoint Presentation</vt:lpstr>
      <vt:lpstr> Dao. “FDI and Local Governance”</vt:lpstr>
      <vt:lpstr>PowerPoint Presentation</vt:lpstr>
      <vt:lpstr>PowerPoint Presentation</vt:lpstr>
      <vt:lpstr> Ginis. “Production Complexity and Enforcement”</vt:lpstr>
      <vt:lpstr>PowerPoint Presentation</vt:lpstr>
      <vt:lpstr>PowerPoint Presentation</vt:lpstr>
      <vt:lpstr> He. “Supply Chain Linkage and Export Control”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Shim, Gyu Sang</dc:creator>
  <cp:lastModifiedBy>Shim, Gyu Sang</cp:lastModifiedBy>
  <cp:revision>12</cp:revision>
  <dcterms:created xsi:type="dcterms:W3CDTF">2026-04-24T03:44:08Z</dcterms:created>
  <dcterms:modified xsi:type="dcterms:W3CDTF">2026-04-26T12:49:35Z</dcterms:modified>
</cp:coreProperties>
</file>